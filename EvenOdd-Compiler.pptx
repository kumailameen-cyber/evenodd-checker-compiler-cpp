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1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4630400" cy="8229600"/>
  <p:notesSz cx="8229600" cy="14630400"/>
  <p:embeddedFontLst>
    <p:embeddedFont>
      <p:font typeface="DM Sans Medium" panose="020B0604020202020204" charset="0"/>
      <p:regular r:id="rId9"/>
    </p:embeddedFont>
    <p:embeddedFont>
      <p:font typeface="Calibri Light" panose="020F0302020204030204" pitchFamily="34" charset="0"/>
      <p:regular r:id="rId10"/>
      <p:italic r:id="rId11"/>
    </p:embeddedFont>
    <p:embeddedFont>
      <p:font typeface="Inter" panose="020B0604020202020204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80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79" y="2357120"/>
            <a:ext cx="8637271" cy="2905757"/>
          </a:xfrm>
        </p:spPr>
        <p:txBody>
          <a:bodyPr anchor="b">
            <a:normAutofit/>
          </a:bodyPr>
          <a:lstStyle>
            <a:lvl1pPr algn="r">
              <a:defRPr sz="576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4879" y="5262879"/>
            <a:ext cx="8637271" cy="1686560"/>
          </a:xfrm>
        </p:spPr>
        <p:txBody>
          <a:bodyPr anchor="t">
            <a:normAutofit/>
          </a:bodyPr>
          <a:lstStyle>
            <a:lvl1pPr marL="0" indent="0" algn="r">
              <a:buNone/>
              <a:defRPr sz="2160" cap="all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19070" y="7044691"/>
            <a:ext cx="1920240" cy="453390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54879" y="7044691"/>
            <a:ext cx="5872750" cy="4533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730750" y="7044691"/>
            <a:ext cx="661400" cy="453390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688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691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3970297"/>
            <a:ext cx="12157712" cy="1762560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5732857"/>
            <a:ext cx="12157714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 cap="all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1803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2" y="2570480"/>
            <a:ext cx="5994401" cy="437896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6274" y="2570481"/>
            <a:ext cx="5994398" cy="43789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9436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8404" y="2661921"/>
            <a:ext cx="5650865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2" y="3444241"/>
            <a:ext cx="5996308" cy="35051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204" y="2672081"/>
            <a:ext cx="5667376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88180" y="3444241"/>
            <a:ext cx="5994401" cy="35051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3967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7163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776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2489200"/>
            <a:ext cx="4417062" cy="1645920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7841" y="731521"/>
            <a:ext cx="7402831" cy="621792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1" y="4135120"/>
            <a:ext cx="4417062" cy="2194560"/>
          </a:xfrm>
        </p:spPr>
        <p:txBody>
          <a:bodyPr anchor="t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9017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920240"/>
            <a:ext cx="7397584" cy="164592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43504" y="1097280"/>
            <a:ext cx="3937169" cy="54864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566160"/>
            <a:ext cx="7397584" cy="2194560"/>
          </a:xfrm>
        </p:spPr>
        <p:txBody>
          <a:bodyPr anchor="t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2787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5679438"/>
            <a:ext cx="12157712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45921" y="1118535"/>
            <a:ext cx="10511792" cy="379797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1" y="6359524"/>
            <a:ext cx="12157712" cy="592454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6619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2" y="731522"/>
            <a:ext cx="12157712" cy="3749039"/>
          </a:xfrm>
        </p:spPr>
        <p:txBody>
          <a:bodyPr anchor="ctr">
            <a:normAutofit/>
          </a:bodyPr>
          <a:lstStyle>
            <a:lvl1pPr algn="l">
              <a:defRPr sz="384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5212080"/>
            <a:ext cx="12157714" cy="173736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526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85440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930" y="988005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721" y="731522"/>
            <a:ext cx="11460479" cy="3291839"/>
          </a:xfrm>
        </p:spPr>
        <p:txBody>
          <a:bodyPr anchor="ctr">
            <a:normAutofit/>
          </a:bodyPr>
          <a:lstStyle>
            <a:lvl1pPr algn="l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17450" y="4023360"/>
            <a:ext cx="11207021" cy="4572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959" y="5212080"/>
            <a:ext cx="12182840" cy="173736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3568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3" y="3970297"/>
            <a:ext cx="12157710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1" y="5732857"/>
            <a:ext cx="12157711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5463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85440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930" y="988005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90721" y="731522"/>
            <a:ext cx="11460479" cy="3291839"/>
          </a:xfrm>
        </p:spPr>
        <p:txBody>
          <a:bodyPr anchor="ctr">
            <a:normAutofit/>
          </a:bodyPr>
          <a:lstStyle>
            <a:lvl1pPr algn="l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2960" y="4663440"/>
            <a:ext cx="12162523" cy="1066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5730240"/>
            <a:ext cx="12162523" cy="1219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9756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2" y="731522"/>
            <a:ext cx="12157712" cy="32918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2961" y="4206240"/>
            <a:ext cx="12157714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36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5212080"/>
            <a:ext cx="12157714" cy="17373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4311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22962" y="731521"/>
            <a:ext cx="12157710" cy="17475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29080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90410" y="731520"/>
            <a:ext cx="2590262" cy="62179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731520"/>
            <a:ext cx="9398539" cy="621792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65169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498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251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4642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9622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47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2" y="731521"/>
            <a:ext cx="12157710" cy="174752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2" y="2570481"/>
            <a:ext cx="12157710" cy="4378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07592" y="7044691"/>
            <a:ext cx="1920240" cy="4533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1" y="7044691"/>
            <a:ext cx="9393191" cy="4533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319273" y="7044691"/>
            <a:ext cx="661400" cy="4533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968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  <p:sldLayoutId id="2147483771" r:id="rId20"/>
    <p:sldLayoutId id="2147483772" r:id="rId21"/>
    <p:sldLayoutId id="2147483773" r:id="rId22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216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92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68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0"/>
        </a:spcBef>
        <a:spcAft>
          <a:spcPts val="1200"/>
        </a:spcAft>
        <a:buClr>
          <a:schemeClr val="tx1"/>
        </a:buClr>
        <a:buSzPct val="100000"/>
        <a:buFont typeface="Arial"/>
        <a:buChar char="•"/>
        <a:defRPr sz="144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/>
        </p:nvSpPr>
        <p:spPr>
          <a:xfrm>
            <a:off x="2251587" y="1277726"/>
            <a:ext cx="11621729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66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ODD COMPILER</a:t>
            </a:r>
            <a:endParaRPr lang="en-US" sz="6600" dirty="0"/>
          </a:p>
        </p:txBody>
      </p:sp>
      <p:sp>
        <p:nvSpPr>
          <p:cNvPr id="3" name="Text 14"/>
          <p:cNvSpPr/>
          <p:nvPr/>
        </p:nvSpPr>
        <p:spPr>
          <a:xfrm>
            <a:off x="2535025" y="3277085"/>
            <a:ext cx="403312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 NAME : Syed </a:t>
            </a:r>
            <a:r>
              <a:rPr lang="en-US" sz="1500" dirty="0" err="1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Sajjad</a:t>
            </a: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Ali Raza</a:t>
            </a:r>
            <a:b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b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b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 Name : </a:t>
            </a:r>
            <a:b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500" dirty="0" err="1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Kumail</a:t>
            </a: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Ameen 2312158</a:t>
            </a:r>
            <a:b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Abdul </a:t>
            </a:r>
            <a:r>
              <a:rPr lang="en-US" sz="1500" dirty="0" err="1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Rehman</a:t>
            </a: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2312143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5683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774502"/>
            <a:ext cx="12507754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Even/Odd Compiler: A Simulation of Core Phases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3429" y="1892379"/>
            <a:ext cx="13103543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Inter" pitchFamily="34" charset="0"/>
                <a:ea typeface="Inter" pitchFamily="34" charset="-122"/>
                <a:cs typeface="Inter" pitchFamily="34" charset="-120"/>
              </a:rPr>
              <a:t>This project offers a practical simulation of a compiler's fundamental phases, designed to process a single input value and determine whether it is </a:t>
            </a:r>
            <a:r>
              <a:rPr lang="en-US" sz="1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even</a:t>
            </a:r>
            <a:r>
              <a:rPr lang="en-US" sz="1700" dirty="0"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7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odd</a:t>
            </a:r>
            <a:r>
              <a:rPr lang="en-US" sz="1700" dirty="0">
                <a:latin typeface="Inter" pitchFamily="34" charset="0"/>
                <a:ea typeface="Inter" pitchFamily="34" charset="-122"/>
                <a:cs typeface="Inter" pitchFamily="34" charset="-120"/>
              </a:rPr>
              <a:t>. It serves as an accessible introduction to compiler design principles.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3429" y="2917507"/>
            <a:ext cx="769512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Compiler Architecture: Phases of Compilation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63429" y="3653671"/>
            <a:ext cx="13103543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Inter" pitchFamily="34" charset="0"/>
                <a:ea typeface="Inter" pitchFamily="34" charset="-122"/>
                <a:cs typeface="Inter" pitchFamily="34" charset="-120"/>
              </a:rPr>
              <a:t>The simulated compiler's structure mirrors that of a traditional compiler, encompassing five distinct yet interconnected phases: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3429" y="4248031"/>
            <a:ext cx="21812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3429" y="4758333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Lexical Analysis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3429" y="5229939"/>
            <a:ext cx="4222433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Inter" pitchFamily="34" charset="0"/>
                <a:ea typeface="Inter" pitchFamily="34" charset="-122"/>
                <a:cs typeface="Inter" pitchFamily="34" charset="-120"/>
              </a:rPr>
              <a:t>(Tokenizing)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93078" y="4248031"/>
            <a:ext cx="239935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67645" y="4758333"/>
            <a:ext cx="2999446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Syntax Analysis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992862" y="5229939"/>
            <a:ext cx="4644676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Inter" pitchFamily="34" charset="0"/>
                <a:ea typeface="Inter" pitchFamily="34" charset="-122"/>
                <a:cs typeface="Inter" pitchFamily="34" charset="-120"/>
              </a:rPr>
              <a:t>(Parsing)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44539" y="4248031"/>
            <a:ext cx="21812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44539" y="4758333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Semantic Analysis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44539" y="5229939"/>
            <a:ext cx="4222433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Inter" pitchFamily="34" charset="0"/>
                <a:ea typeface="Inter" pitchFamily="34" charset="-122"/>
                <a:cs typeface="Inter" pitchFamily="34" charset="-120"/>
              </a:rPr>
              <a:t>(Type/Meaning Check)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07496" y="6072333"/>
            <a:ext cx="198960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84224" y="6462712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Code Generation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846290" y="6942534"/>
            <a:ext cx="6442710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Inter" pitchFamily="34" charset="0"/>
                <a:ea typeface="Inter" pitchFamily="34" charset="-122"/>
                <a:cs typeface="Inter" pitchFamily="34" charset="-120"/>
              </a:rPr>
              <a:t>(Output Production)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24261" y="5960626"/>
            <a:ext cx="218123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67368" y="6462713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Testing Phase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416183" y="6818169"/>
            <a:ext cx="6442710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latin typeface="Inter" pitchFamily="34" charset="0"/>
                <a:ea typeface="Inter" pitchFamily="34" charset="-122"/>
                <a:cs typeface="Inter" pitchFamily="34" charset="-120"/>
              </a:rPr>
              <a:t>(Execution Simulation)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938" y="882134"/>
            <a:ext cx="6919317" cy="57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Unpacking the Compiler Phases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5078" y="1831062"/>
            <a:ext cx="91440" cy="5516404"/>
          </a:xfrm>
          <a:prstGeom prst="roundRect">
            <a:avLst>
              <a:gd name="adj" fmla="val 30371"/>
            </a:avLst>
          </a:prstGeom>
          <a:solidFill>
            <a:srgbClr val="AC9EF5"/>
          </a:solidFill>
          <a:ln/>
        </p:spPr>
      </p:sp>
      <p:sp>
        <p:nvSpPr>
          <p:cNvPr id="5" name="Text 3"/>
          <p:cNvSpPr/>
          <p:nvPr/>
        </p:nvSpPr>
        <p:spPr>
          <a:xfrm>
            <a:off x="924520" y="2039064"/>
            <a:ext cx="3749278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A. Lexical Analysis (</a:t>
            </a:r>
            <a:r>
              <a:rPr lang="en-US" sz="18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lexicalAnalysis</a:t>
            </a: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4520" y="2462332"/>
            <a:ext cx="3836789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transform the raw input string into a stream of meaningful tokens.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24520" y="3165872"/>
            <a:ext cx="3836789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Iterates through each character of the provided input string.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24520" y="3823097"/>
            <a:ext cx="3836789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Rule: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>
                <a:solidFill>
                  <a:srgbClr val="000000"/>
                </a:solidFill>
                <a:highlight>
                  <a:srgbClr val="AC9EF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Strictly permits only digits (0-9), hyphens (-) for negative numbers, and spaces.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24520" y="4776549"/>
            <a:ext cx="3836789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Point: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Detection of any invalid character (e.g., 'a', '!', '.', '+') triggers a </a:t>
            </a: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Lexical Error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halting further processing.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131594" y="1831062"/>
            <a:ext cx="91440" cy="5516404"/>
          </a:xfrm>
          <a:prstGeom prst="roundRect">
            <a:avLst>
              <a:gd name="adj" fmla="val 30371"/>
            </a:avLst>
          </a:prstGeom>
          <a:solidFill>
            <a:srgbClr val="AC9EF5"/>
          </a:solidFill>
          <a:ln/>
        </p:spPr>
      </p:sp>
      <p:sp>
        <p:nvSpPr>
          <p:cNvPr id="12" name="Text 10"/>
          <p:cNvSpPr/>
          <p:nvPr/>
        </p:nvSpPr>
        <p:spPr>
          <a:xfrm>
            <a:off x="5431036" y="2039064"/>
            <a:ext cx="3776782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B. Syntax Analysis (</a:t>
            </a:r>
            <a:r>
              <a:rPr lang="en-US" sz="18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syntaxAnalysis</a:t>
            </a: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31036" y="2462332"/>
            <a:ext cx="3836789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verify if the token sequence adheres to the defined grammatical rules of the language.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31036" y="3462099"/>
            <a:ext cx="3836789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this simplified language, the sole rule is that the input must </a:t>
            </a: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be empty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31036" y="4415552"/>
            <a:ext cx="3836789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Point: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phase focuses purely on structural correctness. An empty input string results in a </a:t>
            </a: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 Error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638109" y="1831062"/>
            <a:ext cx="91440" cy="5516404"/>
          </a:xfrm>
          <a:prstGeom prst="roundRect">
            <a:avLst>
              <a:gd name="adj" fmla="val 30371"/>
            </a:avLst>
          </a:prstGeom>
          <a:solidFill>
            <a:srgbClr val="AC9EF5"/>
          </a:solidFill>
          <a:ln/>
        </p:spPr>
      </p:sp>
      <p:sp>
        <p:nvSpPr>
          <p:cNvPr id="18" name="Text 16"/>
          <p:cNvSpPr/>
          <p:nvPr/>
        </p:nvSpPr>
        <p:spPr>
          <a:xfrm>
            <a:off x="9937552" y="2039064"/>
            <a:ext cx="3836789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C. Semantic Analysis (</a:t>
            </a:r>
            <a:r>
              <a:rPr lang="en-US" sz="18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semanticAnalysis</a:t>
            </a: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37552" y="2751653"/>
            <a:ext cx="3836789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assess the meaning and logical consistency of the input, ensuring it represents a valid integer.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937552" y="3751421"/>
            <a:ext cx="3836789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Leverages the C++ </a:t>
            </a:r>
            <a:r>
              <a:rPr lang="en-US" sz="14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stoi()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(string to integer) function within a robust </a:t>
            </a:r>
            <a:r>
              <a:rPr lang="en-US" sz="14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try-catch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 for error handling.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937552" y="4704874"/>
            <a:ext cx="3836789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Rule: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input must be successfully convertible into a standard integer type.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937552" y="5658326"/>
            <a:ext cx="3836789" cy="1481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Point: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failure in </a:t>
            </a:r>
            <a:r>
              <a:rPr lang="en-US" sz="14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stoi()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(e.g., input is just "-" or "10-") indicates that while structurally sound, the token sequence lacks valid integer semantics, leading to a </a:t>
            </a:r>
            <a:r>
              <a:rPr lang="en-US" sz="14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Error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75753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From Analysis to Execution: Output Generation &amp; Testing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96835" y="8998148"/>
            <a:ext cx="15240" cy="464939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49C0DD18-8BD0-B123-5117-54230FA8F43C}"/>
              </a:ext>
            </a:extLst>
          </p:cNvPr>
          <p:cNvSpPr/>
          <p:nvPr/>
        </p:nvSpPr>
        <p:spPr>
          <a:xfrm>
            <a:off x="7972187" y="2368834"/>
            <a:ext cx="6382863" cy="4098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E. Testing Phase </a:t>
            </a:r>
            <a:r>
              <a:rPr lang="en-US" sz="2400" b="1" dirty="0" smtClean="0">
                <a:solidFill>
                  <a:schemeClr val="tx1"/>
                </a:solidFill>
              </a:rPr>
              <a:t>(</a:t>
            </a:r>
            <a:r>
              <a:rPr lang="en-US" sz="2000" b="1" dirty="0" smtClean="0">
                <a:solidFill>
                  <a:schemeClr val="tx1"/>
                </a:solidFill>
              </a:rPr>
              <a:t>testing Phase</a:t>
            </a:r>
            <a:r>
              <a:rPr lang="en-US" sz="2400" b="1" dirty="0" smtClean="0">
                <a:solidFill>
                  <a:schemeClr val="tx1"/>
                </a:solidFill>
              </a:rPr>
              <a:t>)</a:t>
            </a:r>
            <a:endParaRPr lang="en-US" sz="2400" b="1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</a:rPr>
              <a:t>Goal:</a:t>
            </a:r>
            <a:r>
              <a:rPr lang="en-US" sz="2400" dirty="0">
                <a:solidFill>
                  <a:schemeClr val="tx1"/>
                </a:solidFill>
              </a:rPr>
              <a:t> To confirm and signal the successful execution of the generated code's logic.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Implementation:</a:t>
            </a:r>
            <a:r>
              <a:rPr lang="en-US" sz="2400" dirty="0">
                <a:solidFill>
                  <a:schemeClr val="tx1"/>
                </a:solidFill>
              </a:rPr>
              <a:t> A straightforward print statement confirms that the process has completed without issues.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Important Point:</a:t>
            </a:r>
            <a:r>
              <a:rPr lang="en-US" sz="2400" dirty="0">
                <a:solidFill>
                  <a:schemeClr val="tx1"/>
                </a:solidFill>
              </a:rPr>
              <a:t> In a full-scale compiler, this phase corresponds to the crucial step where the generated machine code is loaded and executed successfully by the target system.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7544AB79-6858-AA18-AEA6-CCE1B8FB2B89}"/>
              </a:ext>
            </a:extLst>
          </p:cNvPr>
          <p:cNvSpPr/>
          <p:nvPr/>
        </p:nvSpPr>
        <p:spPr>
          <a:xfrm>
            <a:off x="404455" y="1274996"/>
            <a:ext cx="6382863" cy="6286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D. Code Generation </a:t>
            </a:r>
            <a:r>
              <a:rPr lang="en-US" sz="2000" b="1" dirty="0" smtClean="0">
                <a:solidFill>
                  <a:schemeClr val="tx1"/>
                </a:solidFill>
              </a:rPr>
              <a:t>(code Generation)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Goal:</a:t>
            </a:r>
            <a:r>
              <a:rPr lang="en-US" sz="2000" dirty="0">
                <a:solidFill>
                  <a:schemeClr val="tx1"/>
                </a:solidFill>
              </a:rPr>
              <a:t> To produce the final, processed output based on the validated input.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Implementation:</a:t>
            </a:r>
            <a:r>
              <a:rPr lang="en-US" sz="2000" dirty="0">
                <a:solidFill>
                  <a:schemeClr val="tx1"/>
                </a:solidFill>
              </a:rPr>
              <a:t> The function receives the validated integer (num) from the semantic analysis phase.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Logic:</a:t>
            </a:r>
            <a:r>
              <a:rPr lang="en-US" sz="2000" dirty="0">
                <a:solidFill>
                  <a:schemeClr val="tx1"/>
                </a:solidFill>
              </a:rPr>
              <a:t> It performs the core operation: determining the parity of the number using the modulus operator (%).</a:t>
            </a:r>
          </a:p>
          <a:p>
            <a:r>
              <a:rPr lang="en-US" sz="2000" dirty="0">
                <a:solidFill>
                  <a:schemeClr val="tx1"/>
                </a:solidFill>
              </a:rPr>
              <a:t>If num (mod 2) =0, the number is </a:t>
            </a:r>
            <a:r>
              <a:rPr lang="en-US" sz="2000" b="1" dirty="0">
                <a:solidFill>
                  <a:schemeClr val="tx1"/>
                </a:solidFill>
              </a:rPr>
              <a:t>EVEN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</a:p>
          <a:p>
            <a:r>
              <a:rPr lang="en-US" sz="2000" dirty="0">
                <a:solidFill>
                  <a:schemeClr val="tx1"/>
                </a:solidFill>
              </a:rPr>
              <a:t>Otherwise, the number is </a:t>
            </a:r>
            <a:r>
              <a:rPr lang="en-US" sz="2000" b="1" dirty="0">
                <a:solidFill>
                  <a:schemeClr val="tx1"/>
                </a:solidFill>
              </a:rPr>
              <a:t>ODD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Important Point:</a:t>
            </a:r>
            <a:r>
              <a:rPr lang="en-US" sz="2000" dirty="0">
                <a:solidFill>
                  <a:schemeClr val="tx1"/>
                </a:solidFill>
              </a:rPr>
              <a:t> This phase effectively simulates the actions of the final executable code, producing a definitive result.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015" y="1025604"/>
            <a:ext cx="11318319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Orchestration: Main Function &amp; Control Flow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015" y="1724620"/>
            <a:ext cx="5991939" cy="394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2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Function: The Compiler's Conductor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015" y="2416612"/>
            <a:ext cx="13242369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governs the overall execution and control flow of the compiler simulation.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5114" y="3178016"/>
            <a:ext cx="247888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Indefinite Loop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5114" y="3606760"/>
            <a:ext cx="3839766" cy="126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program operates within a </a:t>
            </a: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</a:t>
            </a: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loop, continuously prompting the user for input until the "exit" command is entered, allowing for multiple test runs.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395317" y="3178016"/>
            <a:ext cx="2578537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Sequential Processing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95317" y="3606760"/>
            <a:ext cx="3839766" cy="126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logic progresses through a strict sequence of validation checks, ensuring each compilation phase is completed successfully before moving to the next: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583674" y="5247680"/>
            <a:ext cx="3463052" cy="158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(!lexicalAnalysis(input)) continue;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(!syntaxAnalysis(input)) continue;</a:t>
            </a:r>
            <a:endParaRPr lang="en-US" sz="155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(!semanticAnalysis(input)) continue</a:t>
            </a:r>
            <a:r>
              <a:rPr lang="en-US" sz="1550" dirty="0" smtClean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875520" y="3178016"/>
            <a:ext cx="253222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Robust Error Handling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875520" y="3606760"/>
            <a:ext cx="3839766" cy="25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any compilation phase return </a:t>
            </a: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(indicating an error), the </a:t>
            </a:r>
            <a:r>
              <a:rPr lang="en-US" sz="15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statement immediately terminates the current processing attempt, skips subsequent phases, and prompts the user for new input. This effectively simulates early error termination in a real-world compiler.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418" y="529114"/>
            <a:ext cx="7547134" cy="60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Compiler Insights: Key Takeaways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3418" y="1515189"/>
            <a:ext cx="1328356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mini-compiler clearly illustrates the sequential and interdependent nature inherent in compiler design, where an error in an early phase critically prevents the execution of subsequent ones.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73418" y="2347198"/>
            <a:ext cx="13283565" cy="4015145"/>
          </a:xfrm>
          <a:prstGeom prst="roundRect">
            <a:avLst>
              <a:gd name="adj" fmla="val 71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038" y="2354818"/>
            <a:ext cx="13266896" cy="5537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75109" y="2477810"/>
            <a:ext cx="403312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0663" y="2477810"/>
            <a:ext cx="402931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Role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22406" y="2477810"/>
            <a:ext cx="403312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Example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1038" y="2908578"/>
            <a:ext cx="13266896" cy="8615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75109" y="3031569"/>
            <a:ext cx="403312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Lexical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0663" y="3031569"/>
            <a:ext cx="402931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Validating </a:t>
            </a: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22406" y="3031569"/>
            <a:ext cx="403312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Input: "10a" (The 'a' is an invalid character for a number)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1038" y="3770114"/>
            <a:ext cx="13266896" cy="8615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75109" y="3893106"/>
            <a:ext cx="403312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0663" y="3893106"/>
            <a:ext cx="402931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Validating </a:t>
            </a: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22406" y="3893106"/>
            <a:ext cx="403312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Input: </a:t>
            </a: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"--1"  </a:t>
            </a: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(These are not logically valid integer </a:t>
            </a: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Grammars)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1038" y="4631650"/>
            <a:ext cx="13266896" cy="8615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75109" y="4754642"/>
            <a:ext cx="403312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0663" y="4754642"/>
            <a:ext cx="402931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Validating </a:t>
            </a: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22406" y="4754642"/>
            <a:ext cx="403312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1038" y="5493187"/>
            <a:ext cx="13266896" cy="8615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75109" y="5616178"/>
            <a:ext cx="403312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Gen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0663" y="5616178"/>
            <a:ext cx="402931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 </a:t>
            </a: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22406" y="5616178"/>
            <a:ext cx="403312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Determines the Even/Odd result once all prior phases pass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298734" y="6819305"/>
            <a:ext cx="12465844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9731455" y="4754640"/>
            <a:ext cx="403312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for valid inputs or value</a:t>
            </a:r>
            <a:endParaRPr lang="en-US" sz="15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16</TotalTime>
  <Words>802</Words>
  <Application>Microsoft Office PowerPoint</Application>
  <PresentationFormat>Custom</PresentationFormat>
  <Paragraphs>82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DM Sans Medium</vt:lpstr>
      <vt:lpstr>Calibri Light</vt:lpstr>
      <vt:lpstr>Inter</vt:lpstr>
      <vt:lpstr>Consolas</vt:lpstr>
      <vt:lpstr>Calibri</vt:lpstr>
      <vt:lpstr>DM Sans Light</vt:lpstr>
      <vt:lpstr>Arial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SKY TECH</cp:lastModifiedBy>
  <cp:revision>6</cp:revision>
  <dcterms:created xsi:type="dcterms:W3CDTF">2025-12-12T15:57:19Z</dcterms:created>
  <dcterms:modified xsi:type="dcterms:W3CDTF">2025-12-15T17:18:14Z</dcterms:modified>
</cp:coreProperties>
</file>